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657600" cy="4974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1880" y="164592"/>
            <a:ext cx="54864" cy="4974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Fraud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2926080"/>
            <a:ext cx="731520" cy="731520"/>
          </a:xfrm>
          <a:prstGeom prst="ellipse">
            <a:avLst/>
          </a:prstGeom>
          <a:solidFill>
            <a:srgbClr val="0EA5E9">
              <a:alpha val="2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822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MBAI 5310G — Big Data System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2344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0" y="1920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2026  |  Ontario Tech University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Dr. Dilli P. Sharma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2606040"/>
            <a:ext cx="484632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101022361   Oreoluwa Akinsanya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172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101021074   Kayode Olusanya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35570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101024460   Damalie Mawufemor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fraud detection is a Big Data challenge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2004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card fraud losses reached $33.45B in 2022, projected to exceed $40B by 2027 (Nilson Report, 2023).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32004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173:1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0.58% of transactions are fraudulent. Standard models fail on such extreme imbalance.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32004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&amp; Velocity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331720"/>
            <a:ext cx="237744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1.29M+ transactions requires distributed architecture — single-node systems cannot scale.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— MapleGuard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big data fraud detection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processing of 1.29M transactions via PySpark MLlib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749808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41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transaction stream simulation via micro-batch ingestion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749808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4864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scoring system + Random Forest ML model in parallel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749808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94760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demo with 5 pages — live feed, alerts, model comparison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Architecture — batch layer + speed layer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54480" cy="1371600"/>
          </a:xfrm>
          <a:prstGeom prst="rect">
            <a:avLst/>
          </a:prstGeom>
          <a:solidFill>
            <a:srgbClr val="0C3559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Sparkov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1.85M rows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1920240"/>
            <a:ext cx="146304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280160"/>
            <a:ext cx="1554480" cy="1371600"/>
          </a:xfrm>
          <a:prstGeom prst="rect">
            <a:avLst/>
          </a:prstGeom>
          <a:solidFill>
            <a:srgbClr val="0C355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transactions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84448" y="1920240"/>
            <a:ext cx="146304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280160"/>
            <a:ext cx="1554480" cy="1371600"/>
          </a:xfrm>
          <a:prstGeom prst="rect">
            <a:avLst/>
          </a:prstGeom>
          <a:solidFill>
            <a:srgbClr val="0C3559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Streaming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21808" y="1920240"/>
            <a:ext cx="146304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280160"/>
            <a:ext cx="1554480" cy="1371600"/>
          </a:xfrm>
          <a:prstGeom prst="rect">
            <a:avLst/>
          </a:prstGeom>
          <a:solidFill>
            <a:srgbClr val="0C3559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59168" y="1920240"/>
            <a:ext cx="146304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280160"/>
            <a:ext cx="1554480" cy="1371600"/>
          </a:xfrm>
          <a:prstGeom prst="rect">
            <a:avLst/>
          </a:prstGeom>
          <a:solidFill>
            <a:srgbClr val="0C3559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2880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Technology Mapping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Simulation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Equivalent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chunking in micro-batches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Kafka consumer groups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Micro-batch loop in notebook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Spark Structured Streaming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PySpark MLlib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MLflow + Spark MLlib on Databricks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Parquet files on disk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Lake / S3 object storage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Sparkov Credit Card Fraud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 |  Brandon Harris  |  1.85M transactions across 2019–2020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20240" cy="100584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1.29M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169621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20240" cy="100584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43000"/>
            <a:ext cx="5486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78608" y="169621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Records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20240" cy="100584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4300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27448" y="169621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920240" cy="100584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4300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76288" y="169621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Used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697480"/>
            <a:ext cx="402336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trans_date_trans_time — timestamp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amt — transaction amount (USD)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— merchant category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 / long — cardholder location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merch_lat / merch_long — merchant location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 — date of birth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is_fraud — target label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697480"/>
            <a:ext cx="402336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distance_km — cardholder to merchant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— derived from date of birth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is_night — midnight to 4 AM flag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is_high_amt — amount &gt; $1,000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is_weekend — Saturday / Sunday flag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— hour of day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risk_score — rule-based meta-feature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scoring system + Machine learning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47472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Scoring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74320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amount &gt; $1,000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664208"/>
            <a:ext cx="82296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09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274320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67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distance &gt; 100km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121408"/>
            <a:ext cx="82296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671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274320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24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transaction 0–4am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578608"/>
            <a:ext cx="82296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6243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35808"/>
            <a:ext cx="274320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81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account &lt; 30 days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035808"/>
            <a:ext cx="82296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0815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274320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category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493008"/>
            <a:ext cx="82296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5387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score &gt;= 0.40 = FRAUD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143000"/>
            <a:ext cx="4114800" cy="347472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143000"/>
            <a:ext cx="41148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Pipeline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StringIndexer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1920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category feature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VectorAssembler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12 features into vector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Random Forest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980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trees, depth 10, balanced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Logistic Reg.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511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regularized, balanced weights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Evaluation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4041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ROC-AUC, F1, Precision, Recall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Model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vs Logistic Regression vs Random Forest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70432"/>
                <a:gridCol w="1170432"/>
                <a:gridCol w="1170432"/>
                <a:gridCol w="1170432"/>
                <a:gridCol w="117043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(Train)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(Test)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2926080"/>
            <a:ext cx="1920240" cy="16002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2926080"/>
            <a:ext cx="54864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3017520"/>
            <a:ext cx="17373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0.9925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29768" y="3806190"/>
            <a:ext cx="17373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ROC-AUC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training data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2926080"/>
            <a:ext cx="1920240" cy="16002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2926080"/>
            <a:ext cx="54864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78608" y="3017520"/>
            <a:ext cx="17373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0.9876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578608" y="3806190"/>
            <a:ext cx="17373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ROC-AUC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unseen test data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2926080"/>
            <a:ext cx="1920240" cy="16002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2926080"/>
            <a:ext cx="54864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27448" y="3017520"/>
            <a:ext cx="17373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0.0049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727448" y="3806190"/>
            <a:ext cx="17373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vs test gap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overfitting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66560" y="2926080"/>
            <a:ext cx="1920240" cy="16002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66560" y="2926080"/>
            <a:ext cx="54864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76288" y="3017520"/>
            <a:ext cx="17373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59:1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76288" y="3806190"/>
            <a:ext cx="17373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per true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for rule-based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Importances —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relies on to detect fraud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category_index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94560" y="1133856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133856"/>
            <a:ext cx="6858000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98280" y="1097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99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1435608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435608"/>
            <a:ext cx="6688965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29245" y="1399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27.7%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94560" y="1737360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1737360"/>
            <a:ext cx="3984401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4681" y="17007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94560" y="2039112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2039112"/>
            <a:ext cx="3139225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9505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gender_flag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94560" y="2340864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2340864"/>
            <a:ext cx="845176" cy="18288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5456" y="23042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city_pop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94560" y="2642616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2642616"/>
            <a:ext cx="676141" cy="18288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6421" y="2606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risk_score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94560" y="2944368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2944368"/>
            <a:ext cx="651993" cy="18288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92273" y="2907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209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is_high_amt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194560" y="3246120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94560" y="3246120"/>
            <a:ext cx="627845" cy="18288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68125" y="32095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3511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is_night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194560" y="3547872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94560" y="3547872"/>
            <a:ext cx="338070" cy="18288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350" y="35112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distance_km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94560" y="3849624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94560" y="3849624"/>
            <a:ext cx="217331" cy="18288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57611" y="3813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day_of_week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94560" y="4151376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94560" y="4151376"/>
            <a:ext cx="96592" cy="18288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36872" y="4114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is_weekend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194560" y="4453128"/>
            <a:ext cx="6858000" cy="18288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4560" y="4453128"/>
            <a:ext cx="24148" cy="182880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64428" y="44165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+ Amount = 56.1% of all model decisions — merchant type and transaction size are the dominant fraud signals.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Streaming Simulation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micro-batches  |  500 records each  |  10,000 total transactions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20240" cy="9144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Batches Processed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20240" cy="9144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43000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0.19ms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78608" y="1645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Latency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20240" cy="9144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4300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27448" y="1645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/ sec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920240" cy="91440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43000"/>
            <a:ext cx="54864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76288" y="1645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286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Batch Metrics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91440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 Detected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Fraud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(ms)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production: Kafka producer publishes each transaction as a message → Spark Structured Streaming consumes in real time → scores and alerts within milliseconds.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 — 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interactive pages accessible via public URL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59436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fraud vs legitimate, category breakdown, risk score distribution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56232"/>
            <a:ext cx="8595360" cy="59436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56232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9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transaction stream simulating Kafka consumer with fraud highlighting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69464"/>
            <a:ext cx="8595360" cy="59436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69464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42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Alerts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895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alerts with expandable rule explanations for each flagged transaction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82696"/>
            <a:ext cx="8595360" cy="59436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82696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027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performance table and feature importance chart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95928"/>
            <a:ext cx="8595360" cy="59436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95928"/>
            <a:ext cx="54864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Metrics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15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Throughput, latency, and fraud-per-batch charts from the streaming pipeline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Industry-standard big data tools running in Docker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118872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Spark (PySpark)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engineering + ML training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 Simulation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Kafka (Confluent)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transaction ingestion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Spark MLlib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+ Logistic Regression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 Environment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JupyterLab (PySpark image)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and analysis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 visualization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Plotly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5.18.0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Charts and graphs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+ Docker Compose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Reproducible environment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C35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Parquet (Snappy compressed)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Processed data persistence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from 1.85M transactions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57200" cy="457200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achieved ROC-AUC of 0.9876 on unseen test data — near-identical to 0.9925 training score, confirming no overfitting.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57200" cy="45720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7863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category + transaction amount account for 56.1% of feature importance. These two signals alone drive most fraud detection.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457200" cy="45720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scoring captured 32% of fraud but generated 143,798 false positives — confirming that rules alone are insufficient at scale.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of transaction ranked 3rd in importance (16.5%). Fraudulent transactions cluster between midnight and 4 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457200" cy="45720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 trained with balanced class weights successfully overcame the 173:1 class imbalance without SMOTE oversampling.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Kafka streaming is simulated — not a live distributed cluster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No velocity features (rolling transaction counts per card)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734056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Dataset covers 2019–2020 — may not reflect current fraud patterns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346704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No SHAP explanations for regulatory compliance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959352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Precision still low due to extreme class imbalance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3749040"/>
          </a:xfrm>
          <a:prstGeom prst="rect">
            <a:avLst/>
          </a:prstGeom>
          <a:solidFill>
            <a:srgbClr val="0C355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Real Kafka integration with live producer-consumer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121408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SMOTE oversampling to improve precision on fraud class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734056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XGBoost / LightGBM for higher performance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3346704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SHAP values for per-transaction explanations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3959352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Databricks Delta Lake for ACID-compliant storage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4681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20040" cy="32004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7589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complete big data fraud detection pipeline using Apache Spark 3.5 and Kafka on 1.85M real transactions.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20040" cy="32004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7589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achieved ROC-AUC of 0.9925 (train) and 0.9876 (test) — strong generalization with no overfitting.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320040" cy="32004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589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vs ML comparison clearly demonstrates the necessity of machine learning for production fraud detection.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320040" cy="32004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7589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micro-batch simulation validated the architecture at 500,000 records/sec with 0.19ms average latency.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703320"/>
            <a:ext cx="7589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containerized with Docker and deployed as an interactive Streamlit dashboard with a public URL.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0C18"/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MapleGuard AI  |  MBAI 5310G Big Data System Design  |  Ontario Tech University  |  Winter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MapleGuard AI - Big Data Fraud Detection</dc:title>
  <dc:subject>PptxGenJS Presentation</dc:subject>
  <dc:creator>MBAI 5310G Group</dc:creator>
  <cp:lastModifiedBy>MBAI 5310G Group</cp:lastModifiedBy>
  <cp:revision>1</cp:revision>
  <dcterms:created xsi:type="dcterms:W3CDTF">2026-03-19T21:36:42Z</dcterms:created>
  <dcterms:modified xsi:type="dcterms:W3CDTF">2026-03-19T21:36:42Z</dcterms:modified>
</cp:coreProperties>
</file>